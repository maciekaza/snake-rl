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5116B-8504-2FE7-7F1D-01009754F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E9D0B-C0FC-8D7E-FC06-B6A1C0CF3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931CB-9AB3-9662-A241-D136D7CF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2B41E-AE64-D6AF-7005-1D1201E5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2E38C-826F-BBB9-6A67-FF314888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584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6738-F61C-D697-FE08-837F0C67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68CDE-075C-1F72-CFC0-B768C082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3914C-7D09-013F-D146-D9107B3A0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DD05-3B08-D09D-5854-DD195FF42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5ADA2-0F6D-B15A-31A7-5981AEC52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0732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9981-4687-26E9-BA5E-458FD4150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97C06-2162-0DA8-A764-3C98976F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6A1B5-A6FA-D365-E7DF-99DC2EBB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099CE-5E23-FAEC-C96B-6D98ADD14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72A2B-7E90-B8B7-76F2-F7DC1C70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1021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1D8C-A12E-3C98-AAC5-97DB76D9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8A511-31AB-5878-4763-2FD512083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F4A8A-6CD7-7323-2936-31F66186B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B03BC-E08B-ABA2-D3C1-F40D814C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3B7C9-D6DF-A87F-3AD6-D5CF809F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1142C-9793-51A9-6A09-95188DE43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316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ABF3-42E3-4834-F3B3-FF739355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1FFA8-9F12-D802-A369-EF41178DE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EC2F2-492F-AB02-5A91-16E54FD51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79088-603B-A3FA-4042-1DD6589EF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AA489-3B40-8DB5-C000-75FCF2254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E8D2F-21B4-900D-C6D4-D0742662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8F4C12-607F-3A8C-1B66-4DECC486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FB117-9B76-A590-AFDC-5A041A39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2246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2669-F56A-0244-09EA-DB3579DD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3DF6C-C83D-B74C-7B18-59BE87631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83F00-C152-8DF4-ADFE-B83731BD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DE128-F820-413E-4734-E509E4F5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700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17E5A-1915-2AA5-23EA-BB93F0F2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7838F-93D6-F390-FEC5-B01AF22B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02DD7-BEB1-C19C-73DB-7A3398A7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087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E106-E76B-FB0B-7BAA-99AE1D5B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784AD-FE9F-A285-A4FD-21D816B28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7F451-1DE9-EBDE-B5D3-22C2FC833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69D6F-5458-236B-B90C-2DD38BD5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2D75E-F2C9-7A9F-5502-EA53F707F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CCC67-7FDD-48ED-47D6-C32C1A97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439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0D55-765D-B558-7B1A-ACD40E66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516FA2-7536-B3F4-5457-4092A3D77A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BB9EB-490E-0889-12D8-69F6BBC10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343BD-B06A-5DFA-4831-ADA74F45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89E5F-177F-F560-5CCE-D07F3E5C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EA26B-808F-3044-835C-20D32734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969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62FA-6C90-7DDF-1FA5-C5982747F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136C2-C0CC-863C-0462-519B0A996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8D8F0-3746-D890-8753-4C45B1036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483CA-590C-F514-1D98-26BC9929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74AA9-8AD7-F4F8-46DB-C011E97C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888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B1B0C-022B-1ED6-191C-DDD345411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33027-30D3-BA0E-38F7-6AC232500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DA815-C7EA-82DC-48A9-F2BFC966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B745F-31F5-A6D9-41BA-7E8728BD3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17224-173D-31BF-2120-BF5A2B2C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061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516A0A-4FB0-C1C4-1B9A-242DDEE9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32953-57D3-3E71-9008-F00D18745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F2278-0384-3CA6-BD6B-EFF96A419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47A19-8943-41B8-B74F-79C74EADC4DA}" type="datetimeFigureOut">
              <a:rPr lang="pl-PL" smtClean="0"/>
              <a:t>11.06.2026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438AD-835F-6887-55D8-13ACD1A86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8B977-1988-A9FC-7753-CD8FDBAB6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81967-CEB8-4DAC-9232-A7C1695D416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23996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87A97-8348-F0F6-DB9A-529E923CC0D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47A4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47A4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821F68-59AF-DE3E-950D-BDBB1C299703}"/>
              </a:ext>
            </a:extLst>
          </p:cNvPr>
          <p:cNvSpPr txBox="1"/>
          <p:nvPr/>
        </p:nvSpPr>
        <p:spPr>
          <a:xfrm>
            <a:off x="787400" y="1905000"/>
            <a:ext cx="6350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4200" b="1">
                <a:solidFill>
                  <a:srgbClr val="1E2624"/>
                </a:solidFill>
                <a:latin typeface="Aptos" panose="020B0004020202020204" pitchFamily="34" charset="0"/>
              </a:rPr>
              <a:t>Snake RL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D329E-C6C7-229A-2575-59561475BA8F}"/>
              </a:ext>
            </a:extLst>
          </p:cNvPr>
          <p:cNvSpPr txBox="1"/>
          <p:nvPr/>
        </p:nvSpPr>
        <p:spPr>
          <a:xfrm>
            <a:off x="812800" y="2794000"/>
            <a:ext cx="647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>
                <a:solidFill>
                  <a:srgbClr val="247A48"/>
                </a:solidFill>
                <a:latin typeface="Aptos" panose="020B0004020202020204" pitchFamily="34" charset="0"/>
              </a:rPr>
              <a:t>Porównanie sposobów sterowania agentem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FB0DB-292F-70F5-BE16-97DFFB60E03B}"/>
              </a:ext>
            </a:extLst>
          </p:cNvPr>
          <p:cNvSpPr txBox="1"/>
          <p:nvPr/>
        </p:nvSpPr>
        <p:spPr>
          <a:xfrm>
            <a:off x="825500" y="3429000"/>
            <a:ext cx="660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600">
                <a:solidFill>
                  <a:srgbClr val="5C6965"/>
                </a:solidFill>
                <a:latin typeface="Aptos" panose="020B0004020202020204" pitchFamily="34" charset="0"/>
              </a:rPr>
              <a:t>heurystyka  •  Q-learning  •  DQN  •  NEAT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932C3A-C5EB-E5FF-A0D5-C50A8FC7673D}"/>
              </a:ext>
            </a:extLst>
          </p:cNvPr>
          <p:cNvSpPr/>
          <p:nvPr/>
        </p:nvSpPr>
        <p:spPr>
          <a:xfrm>
            <a:off x="8191500" y="1270000"/>
            <a:ext cx="3937000" cy="393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6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96FAFE-EB11-C8F6-6EC8-28A2227514E9}"/>
              </a:ext>
            </a:extLst>
          </p:cNvPr>
          <p:cNvCxnSpPr/>
          <p:nvPr/>
        </p:nvCxnSpPr>
        <p:spPr>
          <a:xfrm>
            <a:off x="8255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F4045F-481C-1FEF-8A76-AE784732430A}"/>
              </a:ext>
            </a:extLst>
          </p:cNvPr>
          <p:cNvCxnSpPr/>
          <p:nvPr/>
        </p:nvCxnSpPr>
        <p:spPr>
          <a:xfrm>
            <a:off x="8255000" y="1333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0A74A6-AC0D-8871-2B21-83127BEA9593}"/>
              </a:ext>
            </a:extLst>
          </p:cNvPr>
          <p:cNvCxnSpPr/>
          <p:nvPr/>
        </p:nvCxnSpPr>
        <p:spPr>
          <a:xfrm>
            <a:off x="8636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D300B4-A281-E1D8-13F7-570066C2046B}"/>
              </a:ext>
            </a:extLst>
          </p:cNvPr>
          <p:cNvCxnSpPr/>
          <p:nvPr/>
        </p:nvCxnSpPr>
        <p:spPr>
          <a:xfrm>
            <a:off x="8255000" y="1714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562D842-46F5-6401-9DC4-FCC907F19B5A}"/>
              </a:ext>
            </a:extLst>
          </p:cNvPr>
          <p:cNvCxnSpPr/>
          <p:nvPr/>
        </p:nvCxnSpPr>
        <p:spPr>
          <a:xfrm>
            <a:off x="9017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3B2E9F-4BEB-5D0B-82A9-C25A8074FBBD}"/>
              </a:ext>
            </a:extLst>
          </p:cNvPr>
          <p:cNvCxnSpPr/>
          <p:nvPr/>
        </p:nvCxnSpPr>
        <p:spPr>
          <a:xfrm>
            <a:off x="8255000" y="2095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D5A336-BD8D-5491-27C0-D0FFBEAD847A}"/>
              </a:ext>
            </a:extLst>
          </p:cNvPr>
          <p:cNvCxnSpPr/>
          <p:nvPr/>
        </p:nvCxnSpPr>
        <p:spPr>
          <a:xfrm>
            <a:off x="9398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6781E2-9076-E5B2-A567-D60B5397FDAC}"/>
              </a:ext>
            </a:extLst>
          </p:cNvPr>
          <p:cNvCxnSpPr/>
          <p:nvPr/>
        </p:nvCxnSpPr>
        <p:spPr>
          <a:xfrm>
            <a:off x="8255000" y="2476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C3FCE8-0307-5B7F-B003-E4EB521FC73B}"/>
              </a:ext>
            </a:extLst>
          </p:cNvPr>
          <p:cNvCxnSpPr/>
          <p:nvPr/>
        </p:nvCxnSpPr>
        <p:spPr>
          <a:xfrm>
            <a:off x="9779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1D383D-B098-388C-0AF9-0E7CE95121CD}"/>
              </a:ext>
            </a:extLst>
          </p:cNvPr>
          <p:cNvCxnSpPr/>
          <p:nvPr/>
        </p:nvCxnSpPr>
        <p:spPr>
          <a:xfrm>
            <a:off x="8255000" y="2857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344A24-C9F6-D349-F4EB-F738762BE0CD}"/>
              </a:ext>
            </a:extLst>
          </p:cNvPr>
          <p:cNvCxnSpPr/>
          <p:nvPr/>
        </p:nvCxnSpPr>
        <p:spPr>
          <a:xfrm>
            <a:off x="10160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3F0E4D-D7AB-F3F3-4150-079B0A2A5E10}"/>
              </a:ext>
            </a:extLst>
          </p:cNvPr>
          <p:cNvCxnSpPr/>
          <p:nvPr/>
        </p:nvCxnSpPr>
        <p:spPr>
          <a:xfrm>
            <a:off x="8255000" y="3238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09AC27-19EA-7F70-5665-05910C6B3CD7}"/>
              </a:ext>
            </a:extLst>
          </p:cNvPr>
          <p:cNvCxnSpPr/>
          <p:nvPr/>
        </p:nvCxnSpPr>
        <p:spPr>
          <a:xfrm>
            <a:off x="10541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451E29-219E-49DF-794F-B4D7C912770C}"/>
              </a:ext>
            </a:extLst>
          </p:cNvPr>
          <p:cNvCxnSpPr/>
          <p:nvPr/>
        </p:nvCxnSpPr>
        <p:spPr>
          <a:xfrm>
            <a:off x="8255000" y="3619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D3757A-3452-CA8E-8F33-160AABC96B58}"/>
              </a:ext>
            </a:extLst>
          </p:cNvPr>
          <p:cNvCxnSpPr/>
          <p:nvPr/>
        </p:nvCxnSpPr>
        <p:spPr>
          <a:xfrm>
            <a:off x="10922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D922A6-6A15-F8F6-4FE0-FA9035F19494}"/>
              </a:ext>
            </a:extLst>
          </p:cNvPr>
          <p:cNvCxnSpPr/>
          <p:nvPr/>
        </p:nvCxnSpPr>
        <p:spPr>
          <a:xfrm>
            <a:off x="8255000" y="4000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AA195B-0C5F-D321-4E05-7EA299664357}"/>
              </a:ext>
            </a:extLst>
          </p:cNvPr>
          <p:cNvCxnSpPr/>
          <p:nvPr/>
        </p:nvCxnSpPr>
        <p:spPr>
          <a:xfrm>
            <a:off x="11303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CF91D3A-288B-FA06-FEDD-376EA397C8D8}"/>
              </a:ext>
            </a:extLst>
          </p:cNvPr>
          <p:cNvCxnSpPr/>
          <p:nvPr/>
        </p:nvCxnSpPr>
        <p:spPr>
          <a:xfrm>
            <a:off x="8255000" y="4381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BF18C3-F16B-1D79-B89D-3EFB22C7819C}"/>
              </a:ext>
            </a:extLst>
          </p:cNvPr>
          <p:cNvCxnSpPr/>
          <p:nvPr/>
        </p:nvCxnSpPr>
        <p:spPr>
          <a:xfrm>
            <a:off x="11684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8913BE-F9FE-5F7F-2A86-CEFBFA80E8D5}"/>
              </a:ext>
            </a:extLst>
          </p:cNvPr>
          <p:cNvCxnSpPr/>
          <p:nvPr/>
        </p:nvCxnSpPr>
        <p:spPr>
          <a:xfrm>
            <a:off x="8255000" y="4762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5798423-15A3-472C-BB49-AB35CBAF38B5}"/>
              </a:ext>
            </a:extLst>
          </p:cNvPr>
          <p:cNvCxnSpPr/>
          <p:nvPr/>
        </p:nvCxnSpPr>
        <p:spPr>
          <a:xfrm>
            <a:off x="12065000" y="1333500"/>
            <a:ext cx="0" cy="381000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513ECD6-33AF-24AC-9B57-C4B864658D22}"/>
              </a:ext>
            </a:extLst>
          </p:cNvPr>
          <p:cNvCxnSpPr/>
          <p:nvPr/>
        </p:nvCxnSpPr>
        <p:spPr>
          <a:xfrm>
            <a:off x="8255000" y="5143500"/>
            <a:ext cx="3810000" cy="0"/>
          </a:xfrm>
          <a:prstGeom prst="line">
            <a:avLst/>
          </a:prstGeom>
          <a:ln w="8890">
            <a:solidFill>
              <a:srgbClr val="D7D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E017B88-172B-AA84-717F-0A8B6B52517A}"/>
              </a:ext>
            </a:extLst>
          </p:cNvPr>
          <p:cNvSpPr/>
          <p:nvPr/>
        </p:nvSpPr>
        <p:spPr>
          <a:xfrm>
            <a:off x="9042400" y="4025900"/>
            <a:ext cx="330200" cy="330200"/>
          </a:xfrm>
          <a:prstGeom prst="rect">
            <a:avLst/>
          </a:prstGeom>
          <a:solidFill>
            <a:srgbClr val="247A4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47A4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C1DA42-EE7E-3023-7004-1AE216BF5754}"/>
              </a:ext>
            </a:extLst>
          </p:cNvPr>
          <p:cNvSpPr/>
          <p:nvPr/>
        </p:nvSpPr>
        <p:spPr>
          <a:xfrm>
            <a:off x="9423400" y="4025900"/>
            <a:ext cx="330200" cy="330200"/>
          </a:xfrm>
          <a:prstGeom prst="rect">
            <a:avLst/>
          </a:prstGeom>
          <a:solidFill>
            <a:srgbClr val="247A4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47A4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60FB80-0307-E317-9EFF-D18F994C4E09}"/>
              </a:ext>
            </a:extLst>
          </p:cNvPr>
          <p:cNvSpPr/>
          <p:nvPr/>
        </p:nvSpPr>
        <p:spPr>
          <a:xfrm>
            <a:off x="9804400" y="4025900"/>
            <a:ext cx="330200" cy="330200"/>
          </a:xfrm>
          <a:prstGeom prst="rect">
            <a:avLst/>
          </a:prstGeom>
          <a:solidFill>
            <a:srgbClr val="247A4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47A4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F548B5-FE89-A4A7-493C-E415FE8C9B38}"/>
              </a:ext>
            </a:extLst>
          </p:cNvPr>
          <p:cNvSpPr/>
          <p:nvPr/>
        </p:nvSpPr>
        <p:spPr>
          <a:xfrm>
            <a:off x="10185400" y="4025900"/>
            <a:ext cx="330200" cy="330200"/>
          </a:xfrm>
          <a:prstGeom prst="rect">
            <a:avLst/>
          </a:prstGeom>
          <a:solidFill>
            <a:srgbClr val="247A4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47A4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65A789-2E81-592C-190B-7ABEC451DE4F}"/>
              </a:ext>
            </a:extLst>
          </p:cNvPr>
          <p:cNvSpPr/>
          <p:nvPr/>
        </p:nvSpPr>
        <p:spPr>
          <a:xfrm>
            <a:off x="10185400" y="3644900"/>
            <a:ext cx="330200" cy="330200"/>
          </a:xfrm>
          <a:prstGeom prst="rect">
            <a:avLst/>
          </a:prstGeom>
          <a:solidFill>
            <a:srgbClr val="247A4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47A4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6C2E4A-7C58-1568-6D2E-B8AA57DDDBA3}"/>
              </a:ext>
            </a:extLst>
          </p:cNvPr>
          <p:cNvSpPr/>
          <p:nvPr/>
        </p:nvSpPr>
        <p:spPr>
          <a:xfrm>
            <a:off x="10185400" y="3263900"/>
            <a:ext cx="330200" cy="330200"/>
          </a:xfrm>
          <a:prstGeom prst="rect">
            <a:avLst/>
          </a:prstGeom>
          <a:solidFill>
            <a:srgbClr val="247A4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47A4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051C19-F993-A5D7-EEE6-1B2049944AD2}"/>
              </a:ext>
            </a:extLst>
          </p:cNvPr>
          <p:cNvSpPr/>
          <p:nvPr/>
        </p:nvSpPr>
        <p:spPr>
          <a:xfrm>
            <a:off x="10566400" y="3263900"/>
            <a:ext cx="330200" cy="330200"/>
          </a:xfrm>
          <a:prstGeom prst="rect">
            <a:avLst/>
          </a:prstGeom>
          <a:solidFill>
            <a:srgbClr val="247A4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47A4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382ADB-7BDB-9D1D-6ECF-3CB009A2810B}"/>
              </a:ext>
            </a:extLst>
          </p:cNvPr>
          <p:cNvSpPr/>
          <p:nvPr/>
        </p:nvSpPr>
        <p:spPr>
          <a:xfrm>
            <a:off x="10947400" y="3263900"/>
            <a:ext cx="330200" cy="330200"/>
          </a:xfrm>
          <a:prstGeom prst="rect">
            <a:avLst/>
          </a:prstGeom>
          <a:solidFill>
            <a:srgbClr val="247A48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247A4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76AC75-B37A-EFF4-B6E5-B7B8994B0108}"/>
              </a:ext>
            </a:extLst>
          </p:cNvPr>
          <p:cNvSpPr/>
          <p:nvPr/>
        </p:nvSpPr>
        <p:spPr>
          <a:xfrm>
            <a:off x="11379200" y="2171700"/>
            <a:ext cx="228600" cy="228600"/>
          </a:xfrm>
          <a:prstGeom prst="rect">
            <a:avLst/>
          </a:prstGeom>
          <a:solidFill>
            <a:srgbClr val="C4393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C4393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705299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FAC61C-864A-2435-C6BA-97163D2DE53A}"/>
              </a:ext>
            </a:extLst>
          </p:cNvPr>
          <p:cNvSpPr txBox="1"/>
          <p:nvPr/>
        </p:nvSpPr>
        <p:spPr>
          <a:xfrm>
            <a:off x="609600" y="3556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700" b="1">
                <a:solidFill>
                  <a:srgbClr val="1E2624"/>
                </a:solidFill>
                <a:latin typeface="Aptos" panose="020B0004020202020204" pitchFamily="34" charset="0"/>
              </a:rPr>
              <a:t>1. Problem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501FD8-96F5-28FD-CEAB-D9ABA35E3AE6}"/>
              </a:ext>
            </a:extLst>
          </p:cNvPr>
          <p:cNvCxnSpPr/>
          <p:nvPr/>
        </p:nvCxnSpPr>
        <p:spPr>
          <a:xfrm>
            <a:off x="609600" y="990600"/>
            <a:ext cx="10972800" cy="0"/>
          </a:xfrm>
          <a:prstGeom prst="line">
            <a:avLst/>
          </a:prstGeom>
          <a:ln w="25400">
            <a:solidFill>
              <a:srgbClr val="247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ED6C3DD-B658-DC6F-4F3D-4BC20C71F5B4}"/>
              </a:ext>
            </a:extLst>
          </p:cNvPr>
          <p:cNvSpPr txBox="1"/>
          <p:nvPr/>
        </p:nvSpPr>
        <p:spPr>
          <a:xfrm>
            <a:off x="660400" y="1422400"/>
            <a:ext cx="635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100" b="1">
                <a:solidFill>
                  <a:srgbClr val="247A48"/>
                </a:solidFill>
                <a:latin typeface="Aptos" panose="020B0004020202020204" pitchFamily="34" charset="0"/>
              </a:rPr>
              <a:t>Na czym polega gra Snake?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87F14-6B63-295E-6C70-901D2A3D39C7}"/>
              </a:ext>
            </a:extLst>
          </p:cNvPr>
          <p:cNvSpPr txBox="1"/>
          <p:nvPr/>
        </p:nvSpPr>
        <p:spPr>
          <a:xfrm>
            <a:off x="660400" y="2006600"/>
            <a:ext cx="1016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900">
                <a:solidFill>
                  <a:srgbClr val="1E2624"/>
                </a:solidFill>
                <a:latin typeface="Aptos" panose="020B0004020202020204" pitchFamily="34" charset="0"/>
              </a:rPr>
              <a:t>Wąż porusza się po planszy 10x10 i cały czas musi wybierać kolejny kierunek ruchu.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7AF095-D40F-8216-B4D7-BEC5CB462904}"/>
              </a:ext>
            </a:extLst>
          </p:cNvPr>
          <p:cNvSpPr txBox="1"/>
          <p:nvPr/>
        </p:nvSpPr>
        <p:spPr>
          <a:xfrm>
            <a:off x="787400" y="2857500"/>
            <a:ext cx="965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>
                <a:solidFill>
                  <a:srgbClr val="1E2624"/>
                </a:solidFill>
                <a:latin typeface="Aptos" panose="020B0004020202020204" pitchFamily="34" charset="0"/>
              </a:rPr>
              <a:t>• zebranie jedzenia daje punkt i wydłuża węża
• uderzenie w ścianę lub własne ciało kończy grę
• wraz ze wzrostem węża jest coraz mniej wolnego miejsca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AF4FEA-8292-1057-10B2-AA6CE32625B7}"/>
              </a:ext>
            </a:extLst>
          </p:cNvPr>
          <p:cNvSpPr txBox="1"/>
          <p:nvPr/>
        </p:nvSpPr>
        <p:spPr>
          <a:xfrm>
            <a:off x="660400" y="4635500"/>
            <a:ext cx="3810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100" b="1">
                <a:solidFill>
                  <a:srgbClr val="247A48"/>
                </a:solidFill>
                <a:latin typeface="Aptos" panose="020B0004020202020204" pitchFamily="34" charset="0"/>
              </a:rPr>
              <a:t>Cel projektu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0C0D9-BEF6-4A1A-0ACC-C12B4711D5DF}"/>
              </a:ext>
            </a:extLst>
          </p:cNvPr>
          <p:cNvSpPr txBox="1"/>
          <p:nvPr/>
        </p:nvSpPr>
        <p:spPr>
          <a:xfrm>
            <a:off x="660400" y="5207000"/>
            <a:ext cx="1016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900">
                <a:solidFill>
                  <a:srgbClr val="1E2624"/>
                </a:solidFill>
                <a:latin typeface="Aptos" panose="020B0004020202020204" pitchFamily="34" charset="0"/>
              </a:rPr>
              <a:t>Stworzyć algorytm, który bez pomocy człowieka sam wybiera ruchy i steruje wężem. Następnie porównać kilka sposobów podejmowania decyzji.</a:t>
            </a:r>
          </a:p>
        </p:txBody>
      </p:sp>
    </p:spTree>
    <p:extLst>
      <p:ext uri="{BB962C8B-B14F-4D97-AF65-F5344CB8AC3E}">
        <p14:creationId xmlns:p14="http://schemas.microsoft.com/office/powerpoint/2010/main" val="193275732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9F6326-5252-02DD-AB70-049D968E6FD9}"/>
              </a:ext>
            </a:extLst>
          </p:cNvPr>
          <p:cNvSpPr txBox="1"/>
          <p:nvPr/>
        </p:nvSpPr>
        <p:spPr>
          <a:xfrm>
            <a:off x="609600" y="3556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700" b="1">
                <a:solidFill>
                  <a:srgbClr val="1E2624"/>
                </a:solidFill>
                <a:latin typeface="Aptos" panose="020B0004020202020204" pitchFamily="34" charset="0"/>
              </a:rPr>
              <a:t>2. Heurystyka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51DD7A-A83F-FFE9-4646-302CCF95FAF5}"/>
              </a:ext>
            </a:extLst>
          </p:cNvPr>
          <p:cNvCxnSpPr/>
          <p:nvPr/>
        </p:nvCxnSpPr>
        <p:spPr>
          <a:xfrm>
            <a:off x="609600" y="990600"/>
            <a:ext cx="10972800" cy="0"/>
          </a:xfrm>
          <a:prstGeom prst="line">
            <a:avLst/>
          </a:prstGeom>
          <a:ln w="25400">
            <a:solidFill>
              <a:srgbClr val="247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74C598-D84C-F3FA-2D22-7AB8579D87C7}"/>
              </a:ext>
            </a:extLst>
          </p:cNvPr>
          <p:cNvSpPr txBox="1"/>
          <p:nvPr/>
        </p:nvSpPr>
        <p:spPr>
          <a:xfrm>
            <a:off x="660400" y="1422400"/>
            <a:ext cx="533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100" b="1">
                <a:solidFill>
                  <a:srgbClr val="247A48"/>
                </a:solidFill>
                <a:latin typeface="Aptos" panose="020B0004020202020204" pitchFamily="34" charset="0"/>
              </a:rPr>
              <a:t>Czym jest heurystyka?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369F28-B18C-2FCF-1C92-B9C71243A251}"/>
              </a:ext>
            </a:extLst>
          </p:cNvPr>
          <p:cNvSpPr txBox="1"/>
          <p:nvPr/>
        </p:nvSpPr>
        <p:spPr>
          <a:xfrm>
            <a:off x="660400" y="2006600"/>
            <a:ext cx="1041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>
                <a:solidFill>
                  <a:srgbClr val="1E2624"/>
                </a:solidFill>
                <a:latin typeface="Aptos" panose="020B0004020202020204" pitchFamily="34" charset="0"/>
              </a:rPr>
              <a:t>Heurystyka to prosty algorytm oparty na ręcznie zapisanych zasadach. Nie uczy się podczas gry, tylko wykonuje przygotowane wcześniej instrukcje.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C850BF-F80F-F87B-3761-5ED8033066E7}"/>
              </a:ext>
            </a:extLst>
          </p:cNvPr>
          <p:cNvSpPr txBox="1"/>
          <p:nvPr/>
        </p:nvSpPr>
        <p:spPr>
          <a:xfrm>
            <a:off x="660400" y="3365500"/>
            <a:ext cx="546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000" b="1">
                <a:solidFill>
                  <a:srgbClr val="247A48"/>
                </a:solidFill>
                <a:latin typeface="Aptos" panose="020B0004020202020204" pitchFamily="34" charset="0"/>
              </a:rPr>
              <a:t>Jak działa nasza heurystyka?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F20DE7-1A28-BA36-26DE-281E851A929D}"/>
              </a:ext>
            </a:extLst>
          </p:cNvPr>
          <p:cNvSpPr txBox="1"/>
          <p:nvPr/>
        </p:nvSpPr>
        <p:spPr>
          <a:xfrm>
            <a:off x="660400" y="3937000"/>
            <a:ext cx="711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>
                <a:solidFill>
                  <a:srgbClr val="1E2624"/>
                </a:solidFill>
                <a:latin typeface="Aptos" panose="020B0004020202020204" pitchFamily="34" charset="0"/>
              </a:rPr>
              <a:t>1. Sprawdza trzy możliwe ruchy.
2. Odrzuca ruch prowadzący bezpośrednio do kolizji.
3. Z pozostałych wybiera ruch zbliżający głowę do jedzenia.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22B55F-FA7F-9046-A008-88A508CB6905}"/>
              </a:ext>
            </a:extLst>
          </p:cNvPr>
          <p:cNvSpPr txBox="1"/>
          <p:nvPr/>
        </p:nvSpPr>
        <p:spPr>
          <a:xfrm>
            <a:off x="8763000" y="3556000"/>
            <a:ext cx="228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500" b="1">
                <a:solidFill>
                  <a:srgbClr val="5C6965"/>
                </a:solidFill>
                <a:latin typeface="Aptos" panose="020B0004020202020204" pitchFamily="34" charset="0"/>
              </a:rPr>
              <a:t>Średni wynik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8E26A6-5D45-4E30-4CC9-93BFB74B4D25}"/>
              </a:ext>
            </a:extLst>
          </p:cNvPr>
          <p:cNvSpPr txBox="1"/>
          <p:nvPr/>
        </p:nvSpPr>
        <p:spPr>
          <a:xfrm>
            <a:off x="8763000" y="3937000"/>
            <a:ext cx="2286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3000" b="1">
                <a:solidFill>
                  <a:srgbClr val="247A48"/>
                </a:solidFill>
                <a:latin typeface="Aptos" panose="020B0004020202020204" pitchFamily="34" charset="0"/>
              </a:rPr>
              <a:t>20,65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861F0C-557B-E884-C1DC-E1C936A81256}"/>
              </a:ext>
            </a:extLst>
          </p:cNvPr>
          <p:cNvSpPr txBox="1"/>
          <p:nvPr/>
        </p:nvSpPr>
        <p:spPr>
          <a:xfrm>
            <a:off x="8763000" y="4826000"/>
            <a:ext cx="228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500" b="1">
                <a:solidFill>
                  <a:srgbClr val="5C6965"/>
                </a:solidFill>
                <a:latin typeface="Aptos" panose="020B0004020202020204" pitchFamily="34" charset="0"/>
              </a:rPr>
              <a:t>Najlepszy wynik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841961-93E0-CF08-9244-B6DBB0D5572C}"/>
              </a:ext>
            </a:extLst>
          </p:cNvPr>
          <p:cNvSpPr txBox="1"/>
          <p:nvPr/>
        </p:nvSpPr>
        <p:spPr>
          <a:xfrm>
            <a:off x="8763000" y="5207000"/>
            <a:ext cx="2286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3000" b="1">
                <a:solidFill>
                  <a:srgbClr val="247A48"/>
                </a:solidFill>
                <a:latin typeface="Aptos" panose="020B0004020202020204" pitchFamily="34" charset="0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77749327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6E0CC-6CA4-CA91-962C-29D834C53D74}"/>
              </a:ext>
            </a:extLst>
          </p:cNvPr>
          <p:cNvSpPr txBox="1"/>
          <p:nvPr/>
        </p:nvSpPr>
        <p:spPr>
          <a:xfrm>
            <a:off x="609600" y="3556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700" b="1" dirty="0">
                <a:solidFill>
                  <a:srgbClr val="1E2624"/>
                </a:solidFill>
                <a:latin typeface="Aptos" panose="020B0004020202020204" pitchFamily="34" charset="0"/>
              </a:rPr>
              <a:t>3. Q-learning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C00428-EB1A-10D1-8928-C103947AF576}"/>
              </a:ext>
            </a:extLst>
          </p:cNvPr>
          <p:cNvCxnSpPr/>
          <p:nvPr/>
        </p:nvCxnSpPr>
        <p:spPr>
          <a:xfrm>
            <a:off x="609600" y="990600"/>
            <a:ext cx="10972800" cy="0"/>
          </a:xfrm>
          <a:prstGeom prst="line">
            <a:avLst/>
          </a:prstGeom>
          <a:ln w="25400">
            <a:solidFill>
              <a:srgbClr val="247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21AB05C-64AD-C908-4534-E6CE634E5B88}"/>
              </a:ext>
            </a:extLst>
          </p:cNvPr>
          <p:cNvSpPr txBox="1"/>
          <p:nvPr/>
        </p:nvSpPr>
        <p:spPr>
          <a:xfrm>
            <a:off x="660400" y="1333500"/>
            <a:ext cx="381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900" b="1">
                <a:solidFill>
                  <a:srgbClr val="247A48"/>
                </a:solidFill>
                <a:latin typeface="Aptos" panose="020B0004020202020204" pitchFamily="34" charset="0"/>
              </a:rPr>
              <a:t>Stan wejściowy: 15 cech</a:t>
            </a:r>
            <a:endParaRPr lang="pl-PL" sz="1900" b="1" dirty="0">
              <a:solidFill>
                <a:srgbClr val="247A48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839B8-41A5-F2FE-F510-F0639F280D1B}"/>
              </a:ext>
            </a:extLst>
          </p:cNvPr>
          <p:cNvSpPr txBox="1"/>
          <p:nvPr/>
        </p:nvSpPr>
        <p:spPr>
          <a:xfrm>
            <a:off x="660400" y="1816100"/>
            <a:ext cx="4318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600">
                <a:solidFill>
                  <a:srgbClr val="1E2624"/>
                </a:solidFill>
                <a:latin typeface="Aptos" panose="020B0004020202020204" pitchFamily="34" charset="0"/>
              </a:rPr>
              <a:t>• zapisuje jakość ruchów w tablicy Q
• czasem bada nowe ruchy (epsilon-greedy)
• po każdym kroku aktualizuje wartość wybranej akcji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B6C9C-2232-87BD-7522-BC2C6317409C}"/>
              </a:ext>
            </a:extLst>
          </p:cNvPr>
          <p:cNvSpPr txBox="1"/>
          <p:nvPr/>
        </p:nvSpPr>
        <p:spPr>
          <a:xfrm>
            <a:off x="660400" y="4851400"/>
            <a:ext cx="165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 b="1">
                <a:solidFill>
                  <a:srgbClr val="247A48"/>
                </a:solidFill>
                <a:latin typeface="Aptos" panose="020B0004020202020204" pitchFamily="34" charset="0"/>
              </a:rPr>
              <a:t>30 000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60506-1F10-9128-2584-3C69AE56004F}"/>
              </a:ext>
            </a:extLst>
          </p:cNvPr>
          <p:cNvSpPr txBox="1"/>
          <p:nvPr/>
        </p:nvSpPr>
        <p:spPr>
          <a:xfrm>
            <a:off x="660400" y="52578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100" dirty="0">
                <a:solidFill>
                  <a:srgbClr val="5C6965"/>
                </a:solidFill>
                <a:latin typeface="Aptos" panose="020B0004020202020204" pitchFamily="34" charset="0"/>
              </a:rPr>
              <a:t>epizodów treningu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0A85C0-C3E8-FDBA-1C8B-2C426BEF9F89}"/>
              </a:ext>
            </a:extLst>
          </p:cNvPr>
          <p:cNvSpPr txBox="1"/>
          <p:nvPr/>
        </p:nvSpPr>
        <p:spPr>
          <a:xfrm>
            <a:off x="2489200" y="4851400"/>
            <a:ext cx="127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 b="1">
                <a:solidFill>
                  <a:srgbClr val="247A48"/>
                </a:solidFill>
                <a:latin typeface="Aptos" panose="020B0004020202020204" pitchFamily="34" charset="0"/>
              </a:rPr>
              <a:t>16,86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3CB487-D014-708D-863C-08A152BC3D74}"/>
              </a:ext>
            </a:extLst>
          </p:cNvPr>
          <p:cNvSpPr txBox="1"/>
          <p:nvPr/>
        </p:nvSpPr>
        <p:spPr>
          <a:xfrm>
            <a:off x="2489200" y="52578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100">
                <a:solidFill>
                  <a:srgbClr val="5C6965"/>
                </a:solidFill>
                <a:latin typeface="Aptos" panose="020B0004020202020204" pitchFamily="34" charset="0"/>
              </a:rPr>
              <a:t>średni wynik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C79E0-3F54-E7FE-92B2-64815276E6E9}"/>
              </a:ext>
            </a:extLst>
          </p:cNvPr>
          <p:cNvSpPr txBox="1"/>
          <p:nvPr/>
        </p:nvSpPr>
        <p:spPr>
          <a:xfrm>
            <a:off x="3987800" y="4851400"/>
            <a:ext cx="889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 b="1">
                <a:solidFill>
                  <a:srgbClr val="247A48"/>
                </a:solidFill>
                <a:latin typeface="Aptos" panose="020B0004020202020204" pitchFamily="34" charset="0"/>
              </a:rPr>
              <a:t>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88E694-8E6C-4FBE-2D41-6D180C027F84}"/>
              </a:ext>
            </a:extLst>
          </p:cNvPr>
          <p:cNvSpPr txBox="1"/>
          <p:nvPr/>
        </p:nvSpPr>
        <p:spPr>
          <a:xfrm>
            <a:off x="3987800" y="5257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100">
                <a:solidFill>
                  <a:srgbClr val="5C6965"/>
                </a:solidFill>
                <a:latin typeface="Aptos" panose="020B0004020202020204" pitchFamily="34" charset="0"/>
              </a:rPr>
              <a:t>najlepszy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F56D8B-9025-85F1-7C56-E3B08DFDC0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460500"/>
            <a:ext cx="6350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26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03F0B0-5D8A-8DB0-14DE-6663AC9CFE83}"/>
              </a:ext>
            </a:extLst>
          </p:cNvPr>
          <p:cNvSpPr txBox="1"/>
          <p:nvPr/>
        </p:nvSpPr>
        <p:spPr>
          <a:xfrm>
            <a:off x="609600" y="3556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700" b="1">
                <a:solidFill>
                  <a:srgbClr val="1E2624"/>
                </a:solidFill>
                <a:latin typeface="Aptos" panose="020B0004020202020204" pitchFamily="34" charset="0"/>
              </a:rPr>
              <a:t>4. DQN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CBE22E-869F-514F-3232-675053B4B9A4}"/>
              </a:ext>
            </a:extLst>
          </p:cNvPr>
          <p:cNvCxnSpPr/>
          <p:nvPr/>
        </p:nvCxnSpPr>
        <p:spPr>
          <a:xfrm>
            <a:off x="609600" y="990600"/>
            <a:ext cx="10972800" cy="0"/>
          </a:xfrm>
          <a:prstGeom prst="line">
            <a:avLst/>
          </a:prstGeom>
          <a:ln w="25400">
            <a:solidFill>
              <a:srgbClr val="247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F13DC5-2CCF-8045-D5C1-F76DF8B925E0}"/>
              </a:ext>
            </a:extLst>
          </p:cNvPr>
          <p:cNvSpPr txBox="1"/>
          <p:nvPr/>
        </p:nvSpPr>
        <p:spPr>
          <a:xfrm>
            <a:off x="660400" y="1333500"/>
            <a:ext cx="4318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900" b="1">
                <a:solidFill>
                  <a:srgbClr val="247A48"/>
                </a:solidFill>
                <a:latin typeface="Aptos" panose="020B0004020202020204" pitchFamily="34" charset="0"/>
              </a:rPr>
              <a:t>Stan wejściowy: 30 cech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409B8-C2C6-0FE8-B7A2-08B6543D4EE9}"/>
              </a:ext>
            </a:extLst>
          </p:cNvPr>
          <p:cNvSpPr txBox="1"/>
          <p:nvPr/>
        </p:nvSpPr>
        <p:spPr>
          <a:xfrm>
            <a:off x="660400" y="2159000"/>
            <a:ext cx="4318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600">
                <a:solidFill>
                  <a:srgbClr val="1E2624"/>
                </a:solidFill>
                <a:latin typeface="Aptos" panose="020B0004020202020204" pitchFamily="34" charset="0"/>
              </a:rPr>
              <a:t>• replay memory przechowuje doświadczenia
• target network stabilizuje trening
• epsilon-greedy nadal odpowiada za eksplorację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6F3563-ABDC-6CF7-0032-5521B6955E1A}"/>
              </a:ext>
            </a:extLst>
          </p:cNvPr>
          <p:cNvSpPr txBox="1"/>
          <p:nvPr/>
        </p:nvSpPr>
        <p:spPr>
          <a:xfrm>
            <a:off x="660400" y="4851400"/>
            <a:ext cx="165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 b="1">
                <a:solidFill>
                  <a:srgbClr val="247A48"/>
                </a:solidFill>
                <a:latin typeface="Aptos" panose="020B0004020202020204" pitchFamily="34" charset="0"/>
              </a:rPr>
              <a:t>1 500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64755-1731-B3A1-E76E-9061FD162F76}"/>
              </a:ext>
            </a:extLst>
          </p:cNvPr>
          <p:cNvSpPr txBox="1"/>
          <p:nvPr/>
        </p:nvSpPr>
        <p:spPr>
          <a:xfrm>
            <a:off x="660400" y="52578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100">
                <a:solidFill>
                  <a:srgbClr val="5C6965"/>
                </a:solidFill>
                <a:latin typeface="Aptos" panose="020B0004020202020204" pitchFamily="34" charset="0"/>
              </a:rPr>
              <a:t>epizodów treningu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58913-0518-E405-A83D-102F15BC142F}"/>
              </a:ext>
            </a:extLst>
          </p:cNvPr>
          <p:cNvSpPr txBox="1"/>
          <p:nvPr/>
        </p:nvSpPr>
        <p:spPr>
          <a:xfrm>
            <a:off x="2489200" y="4851400"/>
            <a:ext cx="127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 b="1">
                <a:solidFill>
                  <a:srgbClr val="247A48"/>
                </a:solidFill>
                <a:latin typeface="Aptos" panose="020B0004020202020204" pitchFamily="34" charset="0"/>
              </a:rPr>
              <a:t>23,37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DEFBAC-22DE-C4B0-7C06-45A5982BF8F7}"/>
              </a:ext>
            </a:extLst>
          </p:cNvPr>
          <p:cNvSpPr txBox="1"/>
          <p:nvPr/>
        </p:nvSpPr>
        <p:spPr>
          <a:xfrm>
            <a:off x="2489200" y="52578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100">
                <a:solidFill>
                  <a:srgbClr val="5C6965"/>
                </a:solidFill>
                <a:latin typeface="Aptos" panose="020B0004020202020204" pitchFamily="34" charset="0"/>
              </a:rPr>
              <a:t>średni wynik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EEC80B-C90C-CA70-213A-4B48A222053D}"/>
              </a:ext>
            </a:extLst>
          </p:cNvPr>
          <p:cNvSpPr txBox="1"/>
          <p:nvPr/>
        </p:nvSpPr>
        <p:spPr>
          <a:xfrm>
            <a:off x="3987800" y="4851400"/>
            <a:ext cx="889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 b="1">
                <a:solidFill>
                  <a:srgbClr val="247A48"/>
                </a:solidFill>
                <a:latin typeface="Aptos" panose="020B0004020202020204" pitchFamily="34" charset="0"/>
              </a:rPr>
              <a:t>36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C43EDE-4A7D-D992-51C4-3A74101976C7}"/>
              </a:ext>
            </a:extLst>
          </p:cNvPr>
          <p:cNvSpPr txBox="1"/>
          <p:nvPr/>
        </p:nvSpPr>
        <p:spPr>
          <a:xfrm>
            <a:off x="3987800" y="5257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100">
                <a:solidFill>
                  <a:srgbClr val="5C6965"/>
                </a:solidFill>
                <a:latin typeface="Aptos" panose="020B0004020202020204" pitchFamily="34" charset="0"/>
              </a:rPr>
              <a:t>najlepszy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9B312D-B46C-6167-6A91-BCCC2964C9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460500"/>
            <a:ext cx="6350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9602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B81E8E-5997-4D89-0452-DF95AFDA20CB}"/>
              </a:ext>
            </a:extLst>
          </p:cNvPr>
          <p:cNvSpPr txBox="1"/>
          <p:nvPr/>
        </p:nvSpPr>
        <p:spPr>
          <a:xfrm>
            <a:off x="609600" y="3556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700" b="1">
                <a:solidFill>
                  <a:srgbClr val="1E2624"/>
                </a:solidFill>
                <a:latin typeface="Aptos" panose="020B0004020202020204" pitchFamily="34" charset="0"/>
              </a:rPr>
              <a:t>5. NEAT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2ED734-18A2-306A-E6C7-4CD81BD761C8}"/>
              </a:ext>
            </a:extLst>
          </p:cNvPr>
          <p:cNvCxnSpPr/>
          <p:nvPr/>
        </p:nvCxnSpPr>
        <p:spPr>
          <a:xfrm>
            <a:off x="609600" y="990600"/>
            <a:ext cx="10972800" cy="0"/>
          </a:xfrm>
          <a:prstGeom prst="line">
            <a:avLst/>
          </a:prstGeom>
          <a:ln w="25400">
            <a:solidFill>
              <a:srgbClr val="247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140D14D-93B6-DFC0-5D44-F0A12756618C}"/>
              </a:ext>
            </a:extLst>
          </p:cNvPr>
          <p:cNvSpPr txBox="1"/>
          <p:nvPr/>
        </p:nvSpPr>
        <p:spPr>
          <a:xfrm>
            <a:off x="660400" y="1333500"/>
            <a:ext cx="4318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900" b="1">
                <a:solidFill>
                  <a:srgbClr val="247A48"/>
                </a:solidFill>
                <a:latin typeface="Aptos" panose="020B0004020202020204" pitchFamily="34" charset="0"/>
              </a:rPr>
              <a:t>Stan wejściowy: 30 cech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0DBF0-7EA7-0034-D901-23365641B49D}"/>
              </a:ext>
            </a:extLst>
          </p:cNvPr>
          <p:cNvSpPr txBox="1"/>
          <p:nvPr/>
        </p:nvSpPr>
        <p:spPr>
          <a:xfrm>
            <a:off x="660400" y="1879600"/>
            <a:ext cx="4318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600">
                <a:solidFill>
                  <a:srgbClr val="1E2624"/>
                </a:solidFill>
                <a:latin typeface="Aptos" panose="020B0004020202020204" pitchFamily="34" charset="0"/>
              </a:rPr>
              <a:t>1. Tworzy populację różnych sieci.
2. Każda sieć gra i otrzymuje ocenę.
3. Najlepsze sieci są krzyżowane i mutowane.
4. Zmieniają się wagi oraz budowa sieci.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721D9-65CF-48FC-D834-A4D151451BDC}"/>
              </a:ext>
            </a:extLst>
          </p:cNvPr>
          <p:cNvSpPr txBox="1"/>
          <p:nvPr/>
        </p:nvSpPr>
        <p:spPr>
          <a:xfrm>
            <a:off x="660400" y="5016500"/>
            <a:ext cx="1143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 b="1">
                <a:solidFill>
                  <a:srgbClr val="247A48"/>
                </a:solidFill>
                <a:latin typeface="Aptos" panose="020B0004020202020204" pitchFamily="34" charset="0"/>
              </a:rPr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58D5A0-C724-989E-C442-132CE556A317}"/>
              </a:ext>
            </a:extLst>
          </p:cNvPr>
          <p:cNvSpPr txBox="1"/>
          <p:nvPr/>
        </p:nvSpPr>
        <p:spPr>
          <a:xfrm>
            <a:off x="660400" y="5422900"/>
            <a:ext cx="114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100">
                <a:solidFill>
                  <a:srgbClr val="5C6965"/>
                </a:solidFill>
                <a:latin typeface="Aptos" panose="020B0004020202020204" pitchFamily="34" charset="0"/>
              </a:rPr>
              <a:t>pokoleń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9E3809-545E-1C74-9AD1-B6BB4107F152}"/>
              </a:ext>
            </a:extLst>
          </p:cNvPr>
          <p:cNvSpPr txBox="1"/>
          <p:nvPr/>
        </p:nvSpPr>
        <p:spPr>
          <a:xfrm>
            <a:off x="2108200" y="5016500"/>
            <a:ext cx="139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 b="1">
                <a:solidFill>
                  <a:srgbClr val="247A48"/>
                </a:solidFill>
                <a:latin typeface="Aptos" panose="020B0004020202020204" pitchFamily="34" charset="0"/>
              </a:rPr>
              <a:t>59,40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52F9D1-2EDC-5143-B6D2-742ECA42064B}"/>
              </a:ext>
            </a:extLst>
          </p:cNvPr>
          <p:cNvSpPr txBox="1"/>
          <p:nvPr/>
        </p:nvSpPr>
        <p:spPr>
          <a:xfrm>
            <a:off x="2108200" y="5422900"/>
            <a:ext cx="139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100">
                <a:solidFill>
                  <a:srgbClr val="5C6965"/>
                </a:solidFill>
                <a:latin typeface="Aptos" panose="020B0004020202020204" pitchFamily="34" charset="0"/>
              </a:rPr>
              <a:t>średni wynik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E9A71-2977-A3D9-3334-7B146E428236}"/>
              </a:ext>
            </a:extLst>
          </p:cNvPr>
          <p:cNvSpPr txBox="1"/>
          <p:nvPr/>
        </p:nvSpPr>
        <p:spPr>
          <a:xfrm>
            <a:off x="3810000" y="5016500"/>
            <a:ext cx="889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300" b="1">
                <a:solidFill>
                  <a:srgbClr val="247A48"/>
                </a:solidFill>
                <a:latin typeface="Aptos" panose="020B0004020202020204" pitchFamily="34" charset="0"/>
              </a:rPr>
              <a:t>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42BDD-43AC-BC41-B7F6-71E9A0E455C3}"/>
              </a:ext>
            </a:extLst>
          </p:cNvPr>
          <p:cNvSpPr txBox="1"/>
          <p:nvPr/>
        </p:nvSpPr>
        <p:spPr>
          <a:xfrm>
            <a:off x="3810000" y="54229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100">
                <a:solidFill>
                  <a:srgbClr val="5C6965"/>
                </a:solidFill>
                <a:latin typeface="Aptos" panose="020B0004020202020204" pitchFamily="34" charset="0"/>
              </a:rPr>
              <a:t>najlepszy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514646-CBAA-F210-6C2A-3F1825A52BE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460500"/>
            <a:ext cx="6350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631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2CB0D-7B42-28EA-8588-BCA74F8074AC}"/>
              </a:ext>
            </a:extLst>
          </p:cNvPr>
          <p:cNvSpPr txBox="1"/>
          <p:nvPr/>
        </p:nvSpPr>
        <p:spPr>
          <a:xfrm>
            <a:off x="609600" y="3556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700" b="1">
                <a:solidFill>
                  <a:srgbClr val="1E2624"/>
                </a:solidFill>
                <a:latin typeface="Aptos" panose="020B0004020202020204" pitchFamily="34" charset="0"/>
              </a:rPr>
              <a:t>6. Porównanie wyników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186518-B9BB-28E9-F752-261A6B537C79}"/>
              </a:ext>
            </a:extLst>
          </p:cNvPr>
          <p:cNvCxnSpPr/>
          <p:nvPr/>
        </p:nvCxnSpPr>
        <p:spPr>
          <a:xfrm>
            <a:off x="609600" y="990600"/>
            <a:ext cx="10972800" cy="0"/>
          </a:xfrm>
          <a:prstGeom prst="line">
            <a:avLst/>
          </a:prstGeom>
          <a:ln w="25400">
            <a:solidFill>
              <a:srgbClr val="247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458C310-8ECC-0C0E-9E63-AC10AE39881A}"/>
              </a:ext>
            </a:extLst>
          </p:cNvPr>
          <p:cNvSpPr/>
          <p:nvPr/>
        </p:nvSpPr>
        <p:spPr>
          <a:xfrm>
            <a:off x="660400" y="1676400"/>
            <a:ext cx="2540000" cy="571500"/>
          </a:xfrm>
          <a:prstGeom prst="rect">
            <a:avLst/>
          </a:prstGeom>
          <a:solidFill>
            <a:srgbClr val="247A4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5A50-D908-5E76-BA35-5DAD9C0C2728}"/>
              </a:ext>
            </a:extLst>
          </p:cNvPr>
          <p:cNvSpPr txBox="1"/>
          <p:nvPr/>
        </p:nvSpPr>
        <p:spPr>
          <a:xfrm>
            <a:off x="762000" y="1854200"/>
            <a:ext cx="2336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300" b="1">
                <a:solidFill>
                  <a:srgbClr val="FFFFFF"/>
                </a:solidFill>
                <a:latin typeface="Aptos" panose="020B0004020202020204" pitchFamily="34" charset="0"/>
              </a:rPr>
              <a:t>Agent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D83917-83D0-0630-31B8-247986B406A4}"/>
              </a:ext>
            </a:extLst>
          </p:cNvPr>
          <p:cNvSpPr/>
          <p:nvPr/>
        </p:nvSpPr>
        <p:spPr>
          <a:xfrm>
            <a:off x="3200400" y="1676400"/>
            <a:ext cx="1905000" cy="571500"/>
          </a:xfrm>
          <a:prstGeom prst="rect">
            <a:avLst/>
          </a:prstGeom>
          <a:solidFill>
            <a:srgbClr val="247A4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0AA91-74A0-FC49-8CC6-458602472F19}"/>
              </a:ext>
            </a:extLst>
          </p:cNvPr>
          <p:cNvSpPr txBox="1"/>
          <p:nvPr/>
        </p:nvSpPr>
        <p:spPr>
          <a:xfrm>
            <a:off x="3302000" y="1854200"/>
            <a:ext cx="1701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300" b="1">
                <a:solidFill>
                  <a:srgbClr val="FFFFFF"/>
                </a:solidFill>
                <a:latin typeface="Aptos" panose="020B0004020202020204" pitchFamily="34" charset="0"/>
              </a:rPr>
              <a:t>Średni wynik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3D5805-DB91-D5BE-9CEF-1FCA06FCE258}"/>
              </a:ext>
            </a:extLst>
          </p:cNvPr>
          <p:cNvSpPr/>
          <p:nvPr/>
        </p:nvSpPr>
        <p:spPr>
          <a:xfrm>
            <a:off x="5105400" y="1676400"/>
            <a:ext cx="1651000" cy="571500"/>
          </a:xfrm>
          <a:prstGeom prst="rect">
            <a:avLst/>
          </a:prstGeom>
          <a:solidFill>
            <a:srgbClr val="247A4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E46C65-F129-0CE2-8AC8-64A67E347896}"/>
              </a:ext>
            </a:extLst>
          </p:cNvPr>
          <p:cNvSpPr txBox="1"/>
          <p:nvPr/>
        </p:nvSpPr>
        <p:spPr>
          <a:xfrm>
            <a:off x="5207000" y="18542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300" b="1">
                <a:solidFill>
                  <a:srgbClr val="FFFFFF"/>
                </a:solidFill>
                <a:latin typeface="Aptos" panose="020B0004020202020204" pitchFamily="34" charset="0"/>
              </a:rPr>
              <a:t>Najlepszy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BB964E-F04E-7FBA-48D1-6186526095AF}"/>
              </a:ext>
            </a:extLst>
          </p:cNvPr>
          <p:cNvSpPr/>
          <p:nvPr/>
        </p:nvSpPr>
        <p:spPr>
          <a:xfrm>
            <a:off x="6756400" y="1676400"/>
            <a:ext cx="1778000" cy="571500"/>
          </a:xfrm>
          <a:prstGeom prst="rect">
            <a:avLst/>
          </a:prstGeom>
          <a:solidFill>
            <a:srgbClr val="247A4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EB1E04-FC82-B33B-EBD0-EE28B7659DD6}"/>
              </a:ext>
            </a:extLst>
          </p:cNvPr>
          <p:cNvSpPr txBox="1"/>
          <p:nvPr/>
        </p:nvSpPr>
        <p:spPr>
          <a:xfrm>
            <a:off x="6858000" y="1854200"/>
            <a:ext cx="1574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300" b="1">
                <a:solidFill>
                  <a:srgbClr val="FFFFFF"/>
                </a:solidFill>
                <a:latin typeface="Aptos" panose="020B0004020202020204" pitchFamily="34" charset="0"/>
              </a:rPr>
              <a:t>Średnie kroki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309EBE-55AD-6DD9-6F2A-7FF2B4316554}"/>
              </a:ext>
            </a:extLst>
          </p:cNvPr>
          <p:cNvSpPr/>
          <p:nvPr/>
        </p:nvSpPr>
        <p:spPr>
          <a:xfrm>
            <a:off x="8534400" y="1676400"/>
            <a:ext cx="2413000" cy="571500"/>
          </a:xfrm>
          <a:prstGeom prst="rect">
            <a:avLst/>
          </a:prstGeom>
          <a:solidFill>
            <a:srgbClr val="247A4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76A731-D0AA-6E29-E9FE-364CE59F52E0}"/>
              </a:ext>
            </a:extLst>
          </p:cNvPr>
          <p:cNvSpPr txBox="1"/>
          <p:nvPr/>
        </p:nvSpPr>
        <p:spPr>
          <a:xfrm>
            <a:off x="8636000" y="1854200"/>
            <a:ext cx="2209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300" b="1">
                <a:solidFill>
                  <a:srgbClr val="FFFFFF"/>
                </a:solidFill>
                <a:latin typeface="Aptos" panose="020B0004020202020204" pitchFamily="34" charset="0"/>
              </a:rPr>
              <a:t>Trening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9BC1F3-C2CB-6135-6124-A05F7040D2BA}"/>
              </a:ext>
            </a:extLst>
          </p:cNvPr>
          <p:cNvSpPr/>
          <p:nvPr/>
        </p:nvSpPr>
        <p:spPr>
          <a:xfrm>
            <a:off x="660400" y="2247900"/>
            <a:ext cx="2540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AF5BDA-3A50-8AAD-C7A7-20EF51CD0C5A}"/>
              </a:ext>
            </a:extLst>
          </p:cNvPr>
          <p:cNvSpPr txBox="1"/>
          <p:nvPr/>
        </p:nvSpPr>
        <p:spPr>
          <a:xfrm>
            <a:off x="762000" y="2463800"/>
            <a:ext cx="2336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Losowy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38BBDD-625E-1E83-44C7-CE3AD3EED2B7}"/>
              </a:ext>
            </a:extLst>
          </p:cNvPr>
          <p:cNvSpPr/>
          <p:nvPr/>
        </p:nvSpPr>
        <p:spPr>
          <a:xfrm>
            <a:off x="3200400" y="2247900"/>
            <a:ext cx="1905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E0D392-FC98-CCBB-9A32-E2C99EDCB652}"/>
              </a:ext>
            </a:extLst>
          </p:cNvPr>
          <p:cNvSpPr txBox="1"/>
          <p:nvPr/>
        </p:nvSpPr>
        <p:spPr>
          <a:xfrm>
            <a:off x="3302000" y="24638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0,12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E8CDF7-CED6-14A1-39B4-5D185590B001}"/>
              </a:ext>
            </a:extLst>
          </p:cNvPr>
          <p:cNvSpPr/>
          <p:nvPr/>
        </p:nvSpPr>
        <p:spPr>
          <a:xfrm>
            <a:off x="5105400" y="2247900"/>
            <a:ext cx="1651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48D029-BE5B-5F82-4AC4-2F76CB340BA0}"/>
              </a:ext>
            </a:extLst>
          </p:cNvPr>
          <p:cNvSpPr txBox="1"/>
          <p:nvPr/>
        </p:nvSpPr>
        <p:spPr>
          <a:xfrm>
            <a:off x="5207000" y="24638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E903D9-1A6F-2AE8-F162-3DA2FB9A09F5}"/>
              </a:ext>
            </a:extLst>
          </p:cNvPr>
          <p:cNvSpPr/>
          <p:nvPr/>
        </p:nvSpPr>
        <p:spPr>
          <a:xfrm>
            <a:off x="6756400" y="2247900"/>
            <a:ext cx="1778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810734-22C7-3831-9009-14AD468FAE87}"/>
              </a:ext>
            </a:extLst>
          </p:cNvPr>
          <p:cNvSpPr txBox="1"/>
          <p:nvPr/>
        </p:nvSpPr>
        <p:spPr>
          <a:xfrm>
            <a:off x="6858000" y="2463800"/>
            <a:ext cx="1574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14,14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4896E0-5351-0CFD-8DCD-1EE51B304DBB}"/>
              </a:ext>
            </a:extLst>
          </p:cNvPr>
          <p:cNvSpPr/>
          <p:nvPr/>
        </p:nvSpPr>
        <p:spPr>
          <a:xfrm>
            <a:off x="8534400" y="2247900"/>
            <a:ext cx="2413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CB3AC0-7EA7-10BE-EAAE-283A9B67DA95}"/>
              </a:ext>
            </a:extLst>
          </p:cNvPr>
          <p:cNvSpPr txBox="1"/>
          <p:nvPr/>
        </p:nvSpPr>
        <p:spPr>
          <a:xfrm>
            <a:off x="8636000" y="2463800"/>
            <a:ext cx="2209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72D3DD-DC08-6BC9-928D-BBFECCC67B50}"/>
              </a:ext>
            </a:extLst>
          </p:cNvPr>
          <p:cNvSpPr/>
          <p:nvPr/>
        </p:nvSpPr>
        <p:spPr>
          <a:xfrm>
            <a:off x="660400" y="2946400"/>
            <a:ext cx="2540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0D3D14-410C-6BA7-3D17-1264873CB292}"/>
              </a:ext>
            </a:extLst>
          </p:cNvPr>
          <p:cNvSpPr txBox="1"/>
          <p:nvPr/>
        </p:nvSpPr>
        <p:spPr>
          <a:xfrm>
            <a:off x="762000" y="3162300"/>
            <a:ext cx="2336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Heurystyka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01C62D-8812-5DD5-B27E-22B07BD1CCD4}"/>
              </a:ext>
            </a:extLst>
          </p:cNvPr>
          <p:cNvSpPr/>
          <p:nvPr/>
        </p:nvSpPr>
        <p:spPr>
          <a:xfrm>
            <a:off x="3200400" y="2946400"/>
            <a:ext cx="1905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F8886C-8B21-9BF8-8431-31B2B8DC13AA}"/>
              </a:ext>
            </a:extLst>
          </p:cNvPr>
          <p:cNvSpPr txBox="1"/>
          <p:nvPr/>
        </p:nvSpPr>
        <p:spPr>
          <a:xfrm>
            <a:off x="3302000" y="31623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20,65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E99B9C-692F-D8E1-0E3D-DAC6B8B95F62}"/>
              </a:ext>
            </a:extLst>
          </p:cNvPr>
          <p:cNvSpPr/>
          <p:nvPr/>
        </p:nvSpPr>
        <p:spPr>
          <a:xfrm>
            <a:off x="5105400" y="2946400"/>
            <a:ext cx="1651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759F51-EA75-4645-02BD-3FB43B16A858}"/>
              </a:ext>
            </a:extLst>
          </p:cNvPr>
          <p:cNvSpPr txBox="1"/>
          <p:nvPr/>
        </p:nvSpPr>
        <p:spPr>
          <a:xfrm>
            <a:off x="5207000" y="31623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41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63C9DC-C26C-1F0F-A49E-38DEAE84760A}"/>
              </a:ext>
            </a:extLst>
          </p:cNvPr>
          <p:cNvSpPr/>
          <p:nvPr/>
        </p:nvSpPr>
        <p:spPr>
          <a:xfrm>
            <a:off x="6756400" y="2946400"/>
            <a:ext cx="1778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91AC21-6B06-F84D-FCCE-97E9A33F692F}"/>
              </a:ext>
            </a:extLst>
          </p:cNvPr>
          <p:cNvSpPr txBox="1"/>
          <p:nvPr/>
        </p:nvSpPr>
        <p:spPr>
          <a:xfrm>
            <a:off x="6858000" y="3162300"/>
            <a:ext cx="1574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169,81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F1379D-479F-1D8F-D79F-411285A7A310}"/>
              </a:ext>
            </a:extLst>
          </p:cNvPr>
          <p:cNvSpPr/>
          <p:nvPr/>
        </p:nvSpPr>
        <p:spPr>
          <a:xfrm>
            <a:off x="8534400" y="2946400"/>
            <a:ext cx="2413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50BDDA-28E9-08A1-3B7A-1A376063DF5B}"/>
              </a:ext>
            </a:extLst>
          </p:cNvPr>
          <p:cNvSpPr txBox="1"/>
          <p:nvPr/>
        </p:nvSpPr>
        <p:spPr>
          <a:xfrm>
            <a:off x="8636000" y="3162300"/>
            <a:ext cx="2209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C4FC91-020A-E7BE-0456-5679B468615B}"/>
              </a:ext>
            </a:extLst>
          </p:cNvPr>
          <p:cNvSpPr/>
          <p:nvPr/>
        </p:nvSpPr>
        <p:spPr>
          <a:xfrm>
            <a:off x="660400" y="3644900"/>
            <a:ext cx="2540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EA55ED-CFAB-4903-532A-14EFF8848A21}"/>
              </a:ext>
            </a:extLst>
          </p:cNvPr>
          <p:cNvSpPr txBox="1"/>
          <p:nvPr/>
        </p:nvSpPr>
        <p:spPr>
          <a:xfrm>
            <a:off x="762000" y="3860800"/>
            <a:ext cx="2336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Q-learning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33625A-8907-6A57-D55E-4740BE59C5E4}"/>
              </a:ext>
            </a:extLst>
          </p:cNvPr>
          <p:cNvSpPr/>
          <p:nvPr/>
        </p:nvSpPr>
        <p:spPr>
          <a:xfrm>
            <a:off x="3200400" y="3644900"/>
            <a:ext cx="1905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3D49CF-DFD7-14EB-21B5-AD23A5EF8CC7}"/>
              </a:ext>
            </a:extLst>
          </p:cNvPr>
          <p:cNvSpPr txBox="1"/>
          <p:nvPr/>
        </p:nvSpPr>
        <p:spPr>
          <a:xfrm>
            <a:off x="3302000" y="38608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16,86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690F919-C555-1615-EE55-5D943AAA1737}"/>
              </a:ext>
            </a:extLst>
          </p:cNvPr>
          <p:cNvSpPr/>
          <p:nvPr/>
        </p:nvSpPr>
        <p:spPr>
          <a:xfrm>
            <a:off x="5105400" y="3644900"/>
            <a:ext cx="1651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41C6D2-9782-BBB4-9F36-562AE1D2288E}"/>
              </a:ext>
            </a:extLst>
          </p:cNvPr>
          <p:cNvSpPr txBox="1"/>
          <p:nvPr/>
        </p:nvSpPr>
        <p:spPr>
          <a:xfrm>
            <a:off x="5207000" y="38608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31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42B892B-3002-9297-E8FD-897B00F1BB51}"/>
              </a:ext>
            </a:extLst>
          </p:cNvPr>
          <p:cNvSpPr/>
          <p:nvPr/>
        </p:nvSpPr>
        <p:spPr>
          <a:xfrm>
            <a:off x="6756400" y="3644900"/>
            <a:ext cx="1778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7948A4-F07A-DF31-79F3-C1B0F98B82C4}"/>
              </a:ext>
            </a:extLst>
          </p:cNvPr>
          <p:cNvSpPr txBox="1"/>
          <p:nvPr/>
        </p:nvSpPr>
        <p:spPr>
          <a:xfrm>
            <a:off x="6858000" y="3860800"/>
            <a:ext cx="1574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139,29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D2C9F02-D699-EADC-D088-1F1B7ACB041D}"/>
              </a:ext>
            </a:extLst>
          </p:cNvPr>
          <p:cNvSpPr/>
          <p:nvPr/>
        </p:nvSpPr>
        <p:spPr>
          <a:xfrm>
            <a:off x="8534400" y="3644900"/>
            <a:ext cx="2413000" cy="698500"/>
          </a:xfrm>
          <a:prstGeom prst="rect">
            <a:avLst/>
          </a:prstGeom>
          <a:solidFill>
            <a:srgbClr val="FFFFFF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A06C85-BA1A-724B-3A2C-DFF469C32770}"/>
              </a:ext>
            </a:extLst>
          </p:cNvPr>
          <p:cNvSpPr txBox="1"/>
          <p:nvPr/>
        </p:nvSpPr>
        <p:spPr>
          <a:xfrm>
            <a:off x="8636000" y="3860800"/>
            <a:ext cx="2209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30 000 ep.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7319707-C7E4-6C53-C675-5BD6FE217E25}"/>
              </a:ext>
            </a:extLst>
          </p:cNvPr>
          <p:cNvSpPr/>
          <p:nvPr/>
        </p:nvSpPr>
        <p:spPr>
          <a:xfrm>
            <a:off x="660400" y="4343400"/>
            <a:ext cx="2540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720971-63D5-C310-52FF-D08CB378274E}"/>
              </a:ext>
            </a:extLst>
          </p:cNvPr>
          <p:cNvSpPr txBox="1"/>
          <p:nvPr/>
        </p:nvSpPr>
        <p:spPr>
          <a:xfrm>
            <a:off x="762000" y="4559300"/>
            <a:ext cx="2336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DQN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EA58C0-91B9-6E31-016F-97835E9885A9}"/>
              </a:ext>
            </a:extLst>
          </p:cNvPr>
          <p:cNvSpPr/>
          <p:nvPr/>
        </p:nvSpPr>
        <p:spPr>
          <a:xfrm>
            <a:off x="3200400" y="4343400"/>
            <a:ext cx="1905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F0B06D-EE27-9A0E-9646-50F90F1A6660}"/>
              </a:ext>
            </a:extLst>
          </p:cNvPr>
          <p:cNvSpPr txBox="1"/>
          <p:nvPr/>
        </p:nvSpPr>
        <p:spPr>
          <a:xfrm>
            <a:off x="3302000" y="45593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23,37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E2996E9-EBD1-ED92-1C0A-3DB17DD5ACE5}"/>
              </a:ext>
            </a:extLst>
          </p:cNvPr>
          <p:cNvSpPr/>
          <p:nvPr/>
        </p:nvSpPr>
        <p:spPr>
          <a:xfrm>
            <a:off x="5105400" y="4343400"/>
            <a:ext cx="1651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AB631C-D4B2-7A74-2FE8-1377F2515261}"/>
              </a:ext>
            </a:extLst>
          </p:cNvPr>
          <p:cNvSpPr txBox="1"/>
          <p:nvPr/>
        </p:nvSpPr>
        <p:spPr>
          <a:xfrm>
            <a:off x="5207000" y="45593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36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3D4F25-24CF-B030-D6A7-A590CCD02727}"/>
              </a:ext>
            </a:extLst>
          </p:cNvPr>
          <p:cNvSpPr/>
          <p:nvPr/>
        </p:nvSpPr>
        <p:spPr>
          <a:xfrm>
            <a:off x="6756400" y="4343400"/>
            <a:ext cx="1778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351866-A4DA-CC8D-A81E-A0402B208B23}"/>
              </a:ext>
            </a:extLst>
          </p:cNvPr>
          <p:cNvSpPr txBox="1"/>
          <p:nvPr/>
        </p:nvSpPr>
        <p:spPr>
          <a:xfrm>
            <a:off x="6858000" y="4559300"/>
            <a:ext cx="1574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220,20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ED4E88-4BEC-8219-C27D-A68491AC42D0}"/>
              </a:ext>
            </a:extLst>
          </p:cNvPr>
          <p:cNvSpPr/>
          <p:nvPr/>
        </p:nvSpPr>
        <p:spPr>
          <a:xfrm>
            <a:off x="8534400" y="4343400"/>
            <a:ext cx="2413000" cy="698500"/>
          </a:xfrm>
          <a:prstGeom prst="rect">
            <a:avLst/>
          </a:prstGeom>
          <a:solidFill>
            <a:srgbClr val="F3F5F4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C01580-1ECF-D549-75B3-C760C97A9BA1}"/>
              </a:ext>
            </a:extLst>
          </p:cNvPr>
          <p:cNvSpPr txBox="1"/>
          <p:nvPr/>
        </p:nvSpPr>
        <p:spPr>
          <a:xfrm>
            <a:off x="8636000" y="4559300"/>
            <a:ext cx="2209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>
                <a:solidFill>
                  <a:srgbClr val="1E2624"/>
                </a:solidFill>
                <a:latin typeface="Aptos" panose="020B0004020202020204" pitchFamily="34" charset="0"/>
              </a:rPr>
              <a:t>1 500 ep.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8EA200F-6D20-2D02-1166-3E99C09BBF43}"/>
              </a:ext>
            </a:extLst>
          </p:cNvPr>
          <p:cNvSpPr/>
          <p:nvPr/>
        </p:nvSpPr>
        <p:spPr>
          <a:xfrm>
            <a:off x="660400" y="5041900"/>
            <a:ext cx="2540000" cy="698500"/>
          </a:xfrm>
          <a:prstGeom prst="rect">
            <a:avLst/>
          </a:prstGeom>
          <a:solidFill>
            <a:srgbClr val="E7F3EB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E74E28-3454-EAAE-6A8C-4585C285D2F0}"/>
              </a:ext>
            </a:extLst>
          </p:cNvPr>
          <p:cNvSpPr txBox="1"/>
          <p:nvPr/>
        </p:nvSpPr>
        <p:spPr>
          <a:xfrm>
            <a:off x="762000" y="5257800"/>
            <a:ext cx="2336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 b="1">
                <a:solidFill>
                  <a:srgbClr val="247A48"/>
                </a:solidFill>
                <a:latin typeface="Aptos" panose="020B0004020202020204" pitchFamily="34" charset="0"/>
              </a:rPr>
              <a:t>NEAT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43A5D17-28B0-F109-BC46-40A161F4BE16}"/>
              </a:ext>
            </a:extLst>
          </p:cNvPr>
          <p:cNvSpPr/>
          <p:nvPr/>
        </p:nvSpPr>
        <p:spPr>
          <a:xfrm>
            <a:off x="3200400" y="5041900"/>
            <a:ext cx="1905000" cy="698500"/>
          </a:xfrm>
          <a:prstGeom prst="rect">
            <a:avLst/>
          </a:prstGeom>
          <a:solidFill>
            <a:srgbClr val="E7F3EB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261F60-3162-2D63-9E09-87BE9DE264C7}"/>
              </a:ext>
            </a:extLst>
          </p:cNvPr>
          <p:cNvSpPr txBox="1"/>
          <p:nvPr/>
        </p:nvSpPr>
        <p:spPr>
          <a:xfrm>
            <a:off x="3302000" y="5257800"/>
            <a:ext cx="1701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 b="1">
                <a:solidFill>
                  <a:srgbClr val="247A48"/>
                </a:solidFill>
                <a:latin typeface="Aptos" panose="020B0004020202020204" pitchFamily="34" charset="0"/>
              </a:rPr>
              <a:t>59,40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165004F-52F6-19D9-7467-7DF8F5593D6C}"/>
              </a:ext>
            </a:extLst>
          </p:cNvPr>
          <p:cNvSpPr/>
          <p:nvPr/>
        </p:nvSpPr>
        <p:spPr>
          <a:xfrm>
            <a:off x="5105400" y="5041900"/>
            <a:ext cx="1651000" cy="698500"/>
          </a:xfrm>
          <a:prstGeom prst="rect">
            <a:avLst/>
          </a:prstGeom>
          <a:solidFill>
            <a:srgbClr val="E7F3EB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A2755F-6E5B-7AEF-0194-D61EFD642BFB}"/>
              </a:ext>
            </a:extLst>
          </p:cNvPr>
          <p:cNvSpPr txBox="1"/>
          <p:nvPr/>
        </p:nvSpPr>
        <p:spPr>
          <a:xfrm>
            <a:off x="5207000" y="5257800"/>
            <a:ext cx="1447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 b="1">
                <a:solidFill>
                  <a:srgbClr val="247A48"/>
                </a:solidFill>
                <a:latin typeface="Aptos" panose="020B0004020202020204" pitchFamily="34" charset="0"/>
              </a:rPr>
              <a:t>97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C606CF-2F5A-CA24-474A-B7FBC3D9C732}"/>
              </a:ext>
            </a:extLst>
          </p:cNvPr>
          <p:cNvSpPr/>
          <p:nvPr/>
        </p:nvSpPr>
        <p:spPr>
          <a:xfrm>
            <a:off x="6756400" y="5041900"/>
            <a:ext cx="1778000" cy="698500"/>
          </a:xfrm>
          <a:prstGeom prst="rect">
            <a:avLst/>
          </a:prstGeom>
          <a:solidFill>
            <a:srgbClr val="E7F3EB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94C242-0550-B73D-3055-10D176C9869A}"/>
              </a:ext>
            </a:extLst>
          </p:cNvPr>
          <p:cNvSpPr txBox="1"/>
          <p:nvPr/>
        </p:nvSpPr>
        <p:spPr>
          <a:xfrm>
            <a:off x="6858000" y="5257800"/>
            <a:ext cx="1574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 b="1">
                <a:solidFill>
                  <a:srgbClr val="247A48"/>
                </a:solidFill>
                <a:latin typeface="Aptos" panose="020B0004020202020204" pitchFamily="34" charset="0"/>
              </a:rPr>
              <a:t>1531,47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8AF8AA4-E2D7-4A56-6653-33D55AA6A1EB}"/>
              </a:ext>
            </a:extLst>
          </p:cNvPr>
          <p:cNvSpPr/>
          <p:nvPr/>
        </p:nvSpPr>
        <p:spPr>
          <a:xfrm>
            <a:off x="8534400" y="5041900"/>
            <a:ext cx="2413000" cy="698500"/>
          </a:xfrm>
          <a:prstGeom prst="rect">
            <a:avLst/>
          </a:prstGeom>
          <a:solidFill>
            <a:srgbClr val="E7F3EB"/>
          </a:solidFill>
          <a:ln w="8890">
            <a:solidFill>
              <a:srgbClr val="D7D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3AE833-D661-1F02-23B8-5E4735F65BA8}"/>
              </a:ext>
            </a:extLst>
          </p:cNvPr>
          <p:cNvSpPr txBox="1"/>
          <p:nvPr/>
        </p:nvSpPr>
        <p:spPr>
          <a:xfrm>
            <a:off x="8636000" y="5257800"/>
            <a:ext cx="2209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l-PL" sz="1400" b="1">
                <a:solidFill>
                  <a:srgbClr val="247A48"/>
                </a:solidFill>
                <a:latin typeface="Aptos" panose="020B0004020202020204" pitchFamily="34" charset="0"/>
              </a:rPr>
              <a:t>60 pok.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162B4-1F4E-B1C2-AFE1-C7508DD186EF}"/>
              </a:ext>
            </a:extLst>
          </p:cNvPr>
          <p:cNvSpPr txBox="1"/>
          <p:nvPr/>
        </p:nvSpPr>
        <p:spPr>
          <a:xfrm>
            <a:off x="660400" y="1193800"/>
            <a:ext cx="1079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l-PL" sz="1400">
                <a:solidFill>
                  <a:srgbClr val="65716D"/>
                </a:solidFill>
                <a:latin typeface="Aptos" panose="020B0004020202020204" pitchFamily="34" charset="0"/>
              </a:rPr>
              <a:t>Q-learning używa 15 cech, a DQN i NEAT po 30 cech.</a:t>
            </a:r>
          </a:p>
        </p:txBody>
      </p:sp>
    </p:spTree>
    <p:extLst>
      <p:ext uri="{BB962C8B-B14F-4D97-AF65-F5344CB8AC3E}">
        <p14:creationId xmlns:p14="http://schemas.microsoft.com/office/powerpoint/2010/main" val="387561630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0D9B2-2F81-36C8-EB24-F6231421014E}"/>
              </a:ext>
            </a:extLst>
          </p:cNvPr>
          <p:cNvSpPr txBox="1"/>
          <p:nvPr/>
        </p:nvSpPr>
        <p:spPr>
          <a:xfrm>
            <a:off x="609600" y="355600"/>
            <a:ext cx="9652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700" b="1">
                <a:solidFill>
                  <a:srgbClr val="1E2624"/>
                </a:solidFill>
                <a:latin typeface="Aptos" panose="020B0004020202020204" pitchFamily="34" charset="0"/>
              </a:rPr>
              <a:t>7. Podsumowanie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A164-F12D-F975-8B89-5F87A8EEA35C}"/>
              </a:ext>
            </a:extLst>
          </p:cNvPr>
          <p:cNvCxnSpPr/>
          <p:nvPr/>
        </p:nvCxnSpPr>
        <p:spPr>
          <a:xfrm>
            <a:off x="609600" y="990600"/>
            <a:ext cx="10972800" cy="0"/>
          </a:xfrm>
          <a:prstGeom prst="line">
            <a:avLst/>
          </a:prstGeom>
          <a:ln w="25400">
            <a:solidFill>
              <a:srgbClr val="247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FF278E0-B90B-E870-57C1-7BD6C863C660}"/>
              </a:ext>
            </a:extLst>
          </p:cNvPr>
          <p:cNvSpPr txBox="1"/>
          <p:nvPr/>
        </p:nvSpPr>
        <p:spPr>
          <a:xfrm>
            <a:off x="660400" y="1422400"/>
            <a:ext cx="5461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100" b="1">
                <a:solidFill>
                  <a:srgbClr val="247A48"/>
                </a:solidFill>
                <a:latin typeface="Aptos" panose="020B0004020202020204" pitchFamily="34" charset="0"/>
              </a:rPr>
              <a:t>Najważniejsze wnioski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76C98-8BE2-3B01-5089-89D8C32E3FA3}"/>
              </a:ext>
            </a:extLst>
          </p:cNvPr>
          <p:cNvSpPr txBox="1"/>
          <p:nvPr/>
        </p:nvSpPr>
        <p:spPr>
          <a:xfrm>
            <a:off x="660400" y="2095500"/>
            <a:ext cx="10414000" cy="14619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1900" dirty="0">
                <a:solidFill>
                  <a:srgbClr val="1E2624"/>
                </a:solidFill>
                <a:latin typeface="Aptos" panose="020B0004020202020204" pitchFamily="34" charset="0"/>
              </a:rPr>
              <a:t>• Heurystyka okazała się mocnym punktem odniesienia.
• NEAT uzyskał zdecydowanie najwyższy średni wynik.
• Projekt pokazał różnice między ręcznymi zasadami, uczeniem ze wzmocnieniem i neuroewolucją.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E0A7F3-D247-614E-E2B6-C22D88C20107}"/>
              </a:ext>
            </a:extLst>
          </p:cNvPr>
          <p:cNvSpPr txBox="1"/>
          <p:nvPr/>
        </p:nvSpPr>
        <p:spPr>
          <a:xfrm>
            <a:off x="660400" y="56515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l-PL" sz="2400" b="1">
                <a:solidFill>
                  <a:srgbClr val="247A48"/>
                </a:solidFill>
                <a:latin typeface="Aptos" panose="020B0004020202020204" pitchFamily="34" charset="0"/>
              </a:rPr>
              <a:t>Dziękuję za uwagę</a:t>
            </a:r>
          </a:p>
        </p:txBody>
      </p:sp>
    </p:spTree>
    <p:extLst>
      <p:ext uri="{BB962C8B-B14F-4D97-AF65-F5344CB8AC3E}">
        <p14:creationId xmlns:p14="http://schemas.microsoft.com/office/powerpoint/2010/main" val="173785880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386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Azarewicz</dc:creator>
  <cp:lastModifiedBy>Maciej Azarewicz</cp:lastModifiedBy>
  <cp:revision>9</cp:revision>
  <dcterms:created xsi:type="dcterms:W3CDTF">2026-06-10T15:38:37Z</dcterms:created>
  <dcterms:modified xsi:type="dcterms:W3CDTF">2026-06-10T22:17:52Z</dcterms:modified>
</cp:coreProperties>
</file>